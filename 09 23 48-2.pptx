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58" r:id="rId4"/>
    <p:sldId id="260" r:id="rId5"/>
    <p:sldId id="272" r:id="rId6"/>
    <p:sldId id="262" r:id="rId7"/>
    <p:sldId id="273" r:id="rId8"/>
    <p:sldId id="274" r:id="rId9"/>
    <p:sldId id="276" r:id="rId10"/>
    <p:sldId id="271" r:id="rId11"/>
    <p:sldId id="266" r:id="rId12"/>
    <p:sldId id="270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E66"/>
    <a:srgbClr val="111C3C"/>
    <a:srgbClr val="111C3A"/>
    <a:srgbClr val="0A0A0A"/>
    <a:srgbClr val="4472C4"/>
    <a:srgbClr val="0D1B3E"/>
    <a:srgbClr val="C9C4B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06" autoAdjust="0"/>
    <p:restoredTop sz="95310" autoAdjust="0"/>
  </p:normalViewPr>
  <p:slideViewPr>
    <p:cSldViewPr snapToGrid="0">
      <p:cViewPr varScale="1">
        <p:scale>
          <a:sx n="75" d="100"/>
          <a:sy n="75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8DCFC-68B6-41BB-9724-8D67C2492F4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9CBA1-2C72-406B-87B8-E110F6260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7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87A0C-0EB7-0A04-58B8-CE19E313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48C8F-30FA-E6E6-0FB8-E6A49A9A8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6DEC5-34D6-BD8C-E8DB-09FB9B9C5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A3FC6-C01E-F554-BB56-843E8E1B0C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57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86CD-A9EE-A5CC-E843-CD1D15930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888DC5-2CA9-B6F0-B56D-202B5DD1C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F5875-CD2E-C55C-C7C9-6DED55DE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6CD5-B387-4922-B2C2-56DF1393EE1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3872E-2849-DE97-D8C5-EEA040F16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B284D-1EA0-747A-868D-2E7DECF5A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F848-9B64-42DD-82BF-E9F857B7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08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2A406-023F-EE4D-620C-7CEBF04AF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87BAE-F5F9-377C-7A7F-132C94FE5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91584-B433-BEA7-6A68-60AEE3BF6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6CD5-B387-4922-B2C2-56DF1393EE1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56B3A-C9F4-F748-39F1-7B8203707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71FCC-90E0-E2E2-5BD0-541E06AD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F848-9B64-42DD-82BF-E9F857B7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05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DC9D1-33ED-637A-19E8-C036C5FF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DAE11-4014-CD39-C108-3C5A963A1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1B0D2-BEE9-C4A0-9BF9-86105B2A0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6CD5-B387-4922-B2C2-56DF1393EE1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E093E-EA81-15DB-6DBA-3E4B5B7D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3E603-8AB6-BEC4-4905-432709C87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F848-9B64-42DD-82BF-E9F857B7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63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23E08-454C-92E3-74F4-8AB5670E6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96255-536B-A824-0558-548D94AFF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620A2-BAC3-963E-6120-48557746C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91EE6-2C02-CEBD-04A9-4227D708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6CD5-B387-4922-B2C2-56DF1393EE1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96295-32E9-AB27-89C8-060BFB495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9E1EA-54FD-2C65-08CF-4AE7A1BE8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F848-9B64-42DD-82BF-E9F857B7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66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96E16-7CBF-14F3-0A6E-F4874E7A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A059A-08B2-6864-BE5A-3D840D261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DAE5F-836A-ED38-6188-1B1977A94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023CBF-3364-2755-BB7D-31CA7048F8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A34F41-5A90-B691-C970-199EF6DCB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381C5-6306-4994-D1F4-4960CC339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6CD5-B387-4922-B2C2-56DF1393EE1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D4E202-1E65-2E97-D3D4-17CCC7F4D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313405-EBA5-B557-BE94-92D9CF1C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F848-9B64-42DD-82BF-E9F857B7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2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BDBD6-3840-942B-9677-C5263F759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AFAD5-DFB0-B2B0-DD95-9EF976C1F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6CD5-B387-4922-B2C2-56DF1393EE1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37EEF-B1E3-DEA3-811E-9421A22DA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99A5D5-6947-164F-FE01-2A3CC1582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F848-9B64-42DD-82BF-E9F857B7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82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8E61C3-0F9D-3865-8942-D7198958C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6CD5-B387-4922-B2C2-56DF1393EE1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1DB9E8-5477-70FF-E623-5FC007F2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75CD4-9A0F-5358-09C2-9B11FEFF1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F848-9B64-42DD-82BF-E9F857B7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6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ED946-1C0D-560A-FCD9-2D3199382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54504-0B94-B924-9C7E-63CB56EA0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02A81-8745-9D21-2496-C222632F8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4BB5D-49E5-9B01-F559-62134D41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6CD5-B387-4922-B2C2-56DF1393EE1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DBA4C-0D28-7896-6B62-57336F21D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BF2BF-0D6A-BA8D-C1DF-13AF88E5C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F848-9B64-42DD-82BF-E9F857B7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7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C9051-4D40-4466-4C51-99912849E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56518-091A-4517-AFAA-6C4F16606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8F604-C0C0-EBEE-6A41-6225F6534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06872-78B8-E0AF-60FD-C16C4AD91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6CD5-B387-4922-B2C2-56DF1393EE1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3E3F6-8ED1-8A91-C541-45CF24B0C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74B65-4BBD-9DBB-A28B-7C4858984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F848-9B64-42DD-82BF-E9F857B7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77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E871E-A41D-B8A0-799F-E02FB0737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E4DEB-5131-FAB4-A144-940948A13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D528B-59B5-BEBE-FD40-60E0AF69D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6CD5-B387-4922-B2C2-56DF1393EE1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290D1-984C-3AE0-739A-52B9FD15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73847-9C57-8744-DA6D-E274F559B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F848-9B64-42DD-82BF-E9F857B7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5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E9AFDB-DD41-AB78-C21E-B120370A99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AEFB32-E0BA-94DC-DF47-FD483BFAA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951D6-432A-783D-F004-30D91738D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6CD5-B387-4922-B2C2-56DF1393EE1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39112-2DAA-B09D-3D16-736044A1C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1A595-B42B-81BF-AE53-1FE6207C4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F848-9B64-42DD-82BF-E9F857B7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42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17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F822AC-DA1B-656C-AB90-20930D740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0E08D-68AC-AB54-5394-84645960A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F309-E3CF-BF07-E203-43EFB6D858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56CD5-B387-4922-B2C2-56DF1393EE1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0AFC1-8BD9-D00F-9B46-7B2CFA32F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E0B96-07CF-6BBA-3531-106077C3B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DF848-9B64-42DD-82BF-E9F857B7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9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png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0.jpe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" TargetMode="External" /><Relationship Id="rId2" Type="http://schemas.openxmlformats.org/officeDocument/2006/relationships/hyperlink" Target="https://docs.oracle.com/javase/tutorial/uiswing/" TargetMode="External" /><Relationship Id="rId1" Type="http://schemas.openxmlformats.org/officeDocument/2006/relationships/slideLayout" Target="../slideLayouts/slideLayout1.xml" /><Relationship Id="rId4" Type="http://schemas.openxmlformats.org/officeDocument/2006/relationships/hyperlink" Target="https://www.geeksforgeeks.org/jdbc-drivers/" TargetMode="Externa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FBF7D-EB15-08B1-C244-859EC3F1A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B1D82D-82EF-A99B-7194-22D5053A15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" b="15558"/>
          <a:stretch>
            <a:fillRect/>
          </a:stretch>
        </p:blipFill>
        <p:spPr>
          <a:xfrm>
            <a:off x="9524" y="0"/>
            <a:ext cx="12182475" cy="68633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967D7E-8B35-289D-9FF1-FE9E175F94BE}"/>
              </a:ext>
            </a:extLst>
          </p:cNvPr>
          <p:cNvSpPr txBox="1"/>
          <p:nvPr/>
        </p:nvSpPr>
        <p:spPr>
          <a:xfrm>
            <a:off x="639635" y="267196"/>
            <a:ext cx="10912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400" b="1" dirty="0">
                <a:solidFill>
                  <a:srgbClr val="00B0F0"/>
                </a:solidFill>
              </a:rPr>
              <a:t>Employee Management System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Technology: </a:t>
            </a:r>
            <a:r>
              <a:rPr lang="en-US" sz="2400" b="1" dirty="0">
                <a:solidFill>
                  <a:schemeClr val="bg1"/>
                </a:solidFill>
              </a:rPr>
              <a:t>Core Java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E04346-0DF9-C9CB-730A-AD1C3076B732}"/>
              </a:ext>
            </a:extLst>
          </p:cNvPr>
          <p:cNvGrpSpPr/>
          <p:nvPr/>
        </p:nvGrpSpPr>
        <p:grpSpPr>
          <a:xfrm>
            <a:off x="437148" y="3773714"/>
            <a:ext cx="11317704" cy="2804585"/>
            <a:chOff x="437148" y="3773714"/>
            <a:chExt cx="11317704" cy="2804585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DD5343C-F99B-3FCD-45B8-743D07904D1C}"/>
                </a:ext>
              </a:extLst>
            </p:cNvPr>
            <p:cNvSpPr/>
            <p:nvPr/>
          </p:nvSpPr>
          <p:spPr>
            <a:xfrm>
              <a:off x="437148" y="3773714"/>
              <a:ext cx="11317704" cy="2804585"/>
            </a:xfrm>
            <a:prstGeom prst="roundRect">
              <a:avLst>
                <a:gd name="adj" fmla="val 3940"/>
              </a:avLst>
            </a:prstGeom>
            <a:solidFill>
              <a:schemeClr val="bg1">
                <a:lumMod val="85000"/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4E4AFC4-E2CB-63D4-B7B0-A06F6DF1966E}"/>
                </a:ext>
              </a:extLst>
            </p:cNvPr>
            <p:cNvGrpSpPr/>
            <p:nvPr/>
          </p:nvGrpSpPr>
          <p:grpSpPr>
            <a:xfrm>
              <a:off x="641208" y="4050474"/>
              <a:ext cx="10909585" cy="2251065"/>
              <a:chOff x="641208" y="4072113"/>
              <a:chExt cx="10909585" cy="225106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05A56DF-25B8-D8DD-4168-8C354B3036FF}"/>
                  </a:ext>
                </a:extLst>
              </p:cNvPr>
              <p:cNvGrpSpPr/>
              <p:nvPr/>
            </p:nvGrpSpPr>
            <p:grpSpPr>
              <a:xfrm>
                <a:off x="641208" y="4072113"/>
                <a:ext cx="10909585" cy="2251065"/>
                <a:chOff x="845267" y="4760675"/>
                <a:chExt cx="10909585" cy="2251065"/>
              </a:xfrm>
            </p:grpSpPr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63D4A6E6-BF85-3719-0F25-2EFC6497284E}"/>
                    </a:ext>
                  </a:extLst>
                </p:cNvPr>
                <p:cNvSpPr txBox="1"/>
                <p:nvPr/>
              </p:nvSpPr>
              <p:spPr>
                <a:xfrm>
                  <a:off x="845267" y="4760675"/>
                  <a:ext cx="5295039" cy="22510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sz="2400" b="1" dirty="0"/>
                    <a:t>Mid-Term</a:t>
                  </a:r>
                  <a:r>
                    <a:rPr lang="en-US" sz="2400" dirty="0"/>
                    <a:t> Project Presentation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US" sz="2400" b="1" dirty="0"/>
                    <a:t>Course</a:t>
                  </a:r>
                  <a:r>
                    <a:rPr lang="en-US" sz="2400" dirty="0"/>
                    <a:t>: Software Development </a:t>
                  </a:r>
                  <a:r>
                    <a:rPr lang="en-US" sz="2400" b="1" dirty="0"/>
                    <a:t>Project II</a:t>
                  </a:r>
                  <a:br>
                    <a:rPr lang="en-US" sz="2400" b="1" dirty="0"/>
                  </a:br>
                  <a:r>
                    <a:rPr lang="en-US" sz="2400" b="1" dirty="0"/>
                    <a:t>Dept. of CSE -PUB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US" sz="2400" b="1" dirty="0"/>
                    <a:t>28 February </a:t>
                  </a:r>
                  <a:r>
                    <a:rPr lang="en-US" sz="2400" dirty="0"/>
                    <a:t>2026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3E01F60-4FA6-54CF-776F-05E5C2B18694}"/>
                    </a:ext>
                  </a:extLst>
                </p:cNvPr>
                <p:cNvSpPr txBox="1"/>
                <p:nvPr/>
              </p:nvSpPr>
              <p:spPr>
                <a:xfrm>
                  <a:off x="6931743" y="4760675"/>
                  <a:ext cx="4823109" cy="22510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sz="2400" b="1" dirty="0"/>
                    <a:t>Presented By:</a:t>
                  </a:r>
                </a:p>
                <a:p>
                  <a:pPr marL="457200" indent="-457200">
                    <a:lnSpc>
                      <a:spcPct val="150000"/>
                    </a:lnSpc>
                    <a:buFont typeface="+mj-lt"/>
                    <a:buAutoNum type="arabicPeriod"/>
                  </a:pPr>
                  <a:r>
                    <a:rPr lang="en-US" sz="2400" dirty="0"/>
                    <a:t>Md. </a:t>
                  </a:r>
                  <a:r>
                    <a:rPr lang="en-US" sz="2400" b="1" dirty="0"/>
                    <a:t>Ashiqur</a:t>
                  </a:r>
                  <a:r>
                    <a:rPr lang="en-US" sz="2400" dirty="0"/>
                    <a:t> Rahman (</a:t>
                  </a:r>
                  <a:r>
                    <a:rPr lang="en-US" sz="2400" b="1" dirty="0"/>
                    <a:t>Roll: 09</a:t>
                  </a:r>
                  <a:r>
                    <a:rPr lang="en-US" sz="2400" dirty="0"/>
                    <a:t>)</a:t>
                  </a:r>
                </a:p>
                <a:p>
                  <a:pPr marL="457200" indent="-457200">
                    <a:lnSpc>
                      <a:spcPct val="150000"/>
                    </a:lnSpc>
                    <a:buFont typeface="+mj-lt"/>
                    <a:buAutoNum type="arabicPeriod"/>
                  </a:pPr>
                  <a:r>
                    <a:rPr lang="en-US" sz="2400" b="1" dirty="0" err="1"/>
                    <a:t>Pollob</a:t>
                  </a:r>
                  <a:r>
                    <a:rPr lang="en-US" sz="2400" dirty="0"/>
                    <a:t> Kumar (</a:t>
                  </a:r>
                  <a:r>
                    <a:rPr lang="en-US" sz="2400" b="1" dirty="0"/>
                    <a:t>Roll: 23</a:t>
                  </a:r>
                  <a:r>
                    <a:rPr lang="en-US" sz="2400" dirty="0"/>
                    <a:t>)</a:t>
                  </a:r>
                </a:p>
                <a:p>
                  <a:pPr marL="457200" indent="-457200">
                    <a:lnSpc>
                      <a:spcPct val="150000"/>
                    </a:lnSpc>
                    <a:buFont typeface="+mj-lt"/>
                    <a:buAutoNum type="arabicPeriod"/>
                  </a:pPr>
                  <a:r>
                    <a:rPr lang="en-US" sz="2400" dirty="0"/>
                    <a:t>Md. </a:t>
                  </a:r>
                  <a:r>
                    <a:rPr lang="en-US" sz="2400" b="1" dirty="0" err="1"/>
                    <a:t>Tanzid</a:t>
                  </a:r>
                  <a:r>
                    <a:rPr lang="en-US" sz="2400" dirty="0"/>
                    <a:t> Mondol (</a:t>
                  </a:r>
                  <a:r>
                    <a:rPr lang="en-US" sz="2400" b="1" dirty="0"/>
                    <a:t>Roll: 48</a:t>
                  </a:r>
                  <a:r>
                    <a:rPr lang="en-US" sz="2400" dirty="0"/>
                    <a:t>)</a:t>
                  </a:r>
                </a:p>
              </p:txBody>
            </p:sp>
          </p:grp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19BA01EE-37B8-EAE4-ADFE-D29B66C78D86}"/>
                  </a:ext>
                </a:extLst>
              </p:cNvPr>
              <p:cNvSpPr/>
              <p:nvPr/>
            </p:nvSpPr>
            <p:spPr>
              <a:xfrm>
                <a:off x="6043684" y="4083131"/>
                <a:ext cx="104633" cy="222902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4216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0A28B-146A-0537-4265-7D34A3E8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527037-93B2-3337-6C9C-BB723B46E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998" y="0"/>
            <a:ext cx="685100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B7F4AD-4FFF-30DC-81BC-2770C7A0CC65}"/>
              </a:ext>
            </a:extLst>
          </p:cNvPr>
          <p:cNvSpPr txBox="1"/>
          <p:nvPr/>
        </p:nvSpPr>
        <p:spPr>
          <a:xfrm>
            <a:off x="725715" y="529771"/>
            <a:ext cx="4615284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Introduction</a:t>
            </a:r>
          </a:p>
          <a:p>
            <a:r>
              <a:rPr lang="en-US" sz="2400" dirty="0">
                <a:solidFill>
                  <a:schemeClr val="bg1"/>
                </a:solidFill>
              </a:rPr>
              <a:t>An Employee Management System (EMS) is a software application used to manage employee-related information efficiently.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It helps organizations to: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Store employee records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Update employee details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Manage department information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Improve administrative efficiency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This project is developed using </a:t>
            </a:r>
            <a:r>
              <a:rPr lang="en-US" sz="2400" b="1" dirty="0">
                <a:solidFill>
                  <a:schemeClr val="bg1"/>
                </a:solidFill>
              </a:rPr>
              <a:t>Core Java.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4880C3-3813-D6A5-6DAB-5D2D28B8319A}"/>
              </a:ext>
            </a:extLst>
          </p:cNvPr>
          <p:cNvSpPr/>
          <p:nvPr/>
        </p:nvSpPr>
        <p:spPr>
          <a:xfrm>
            <a:off x="11099448" y="6448503"/>
            <a:ext cx="787752" cy="3053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02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49237E46-90D5-1DAB-EB5A-00DBA93583EF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32685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9871E-63C6-C621-E4A2-8D09AD46E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9BF7D8-F45D-F5C2-3064-154E7CACF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316" y="3048000"/>
            <a:ext cx="6186884" cy="31978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4D4A8E-D65E-8560-8D2A-81605DBC2BC8}"/>
              </a:ext>
            </a:extLst>
          </p:cNvPr>
          <p:cNvSpPr txBox="1"/>
          <p:nvPr/>
        </p:nvSpPr>
        <p:spPr>
          <a:xfrm>
            <a:off x="845268" y="529771"/>
            <a:ext cx="5250732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Problem Statement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Traditional employee management methods: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</a:rPr>
              <a:t>Manual record keeping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</a:rPr>
              <a:t>Paper-based documentation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</a:rPr>
              <a:t>Risk of data loss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</a:rPr>
              <a:t>Time-consuming updates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Our project aims to: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Digitize employee information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Provide a user-friendly interface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Make employee data management simple and organized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B3871B-80FE-72BE-36E3-1EF6B4534812}"/>
              </a:ext>
            </a:extLst>
          </p:cNvPr>
          <p:cNvSpPr/>
          <p:nvPr/>
        </p:nvSpPr>
        <p:spPr>
          <a:xfrm>
            <a:off x="11099448" y="6476729"/>
            <a:ext cx="787752" cy="3053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03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82B7B-18BE-5C25-D85C-8E933BCA813E}"/>
              </a:ext>
            </a:extLst>
          </p:cNvPr>
          <p:cNvGrpSpPr/>
          <p:nvPr/>
        </p:nvGrpSpPr>
        <p:grpSpPr>
          <a:xfrm>
            <a:off x="5827316" y="453571"/>
            <a:ext cx="6186884" cy="2478650"/>
            <a:chOff x="6005116" y="529771"/>
            <a:chExt cx="6186884" cy="247865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21779B6-E5C3-6C87-2287-BD03E1855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289"/>
            <a:stretch>
              <a:fillRect/>
            </a:stretch>
          </p:blipFill>
          <p:spPr>
            <a:xfrm>
              <a:off x="7661152" y="529771"/>
              <a:ext cx="1656036" cy="24786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EC1AF86-5CDF-4B93-12D4-92C0141C9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289"/>
            <a:stretch>
              <a:fillRect/>
            </a:stretch>
          </p:blipFill>
          <p:spPr>
            <a:xfrm>
              <a:off x="9317188" y="529771"/>
              <a:ext cx="1656036" cy="247865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6D7DF58-0C0E-BBFB-B825-FF51367FD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404" b="7289"/>
            <a:stretch>
              <a:fillRect/>
            </a:stretch>
          </p:blipFill>
          <p:spPr>
            <a:xfrm>
              <a:off x="10973224" y="529771"/>
              <a:ext cx="1218776" cy="24786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F363D93-2FD0-C075-0080-E99C9E0D6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289"/>
            <a:stretch>
              <a:fillRect/>
            </a:stretch>
          </p:blipFill>
          <p:spPr>
            <a:xfrm>
              <a:off x="6005116" y="529771"/>
              <a:ext cx="1656036" cy="2478650"/>
            </a:xfrm>
            <a:prstGeom prst="rect">
              <a:avLst/>
            </a:prstGeom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9905B7E-BD8E-CB76-1DD8-A3CB510C61C9}"/>
              </a:ext>
            </a:extLst>
          </p:cNvPr>
          <p:cNvSpPr/>
          <p:nvPr/>
        </p:nvSpPr>
        <p:spPr>
          <a:xfrm>
            <a:off x="7081838" y="4922520"/>
            <a:ext cx="4760912" cy="208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18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497DE-3973-6187-0A65-00A800E30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4D140-B3FE-DDFE-6269-713711E88386}"/>
              </a:ext>
            </a:extLst>
          </p:cNvPr>
          <p:cNvSpPr txBox="1"/>
          <p:nvPr/>
        </p:nvSpPr>
        <p:spPr>
          <a:xfrm>
            <a:off x="845267" y="529771"/>
            <a:ext cx="550174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Technologies Used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Programming Language: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Core Java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Frontend Technologies: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Java Swing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Java FX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Planned Database: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MySQL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Development Environment:</a:t>
            </a:r>
          </a:p>
          <a:p>
            <a:r>
              <a:rPr lang="en-US" sz="2400" dirty="0">
                <a:solidFill>
                  <a:schemeClr val="bg1"/>
                </a:solidFill>
              </a:rPr>
              <a:t>Visual Studio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B0894-5ADE-5D9C-CCB6-417C372D2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897" y="4295448"/>
            <a:ext cx="2032781" cy="20327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D49476-3533-D6B1-619C-6229D5DF87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529" y="3404457"/>
            <a:ext cx="3074937" cy="17296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C4E0EB-2B71-E15F-C009-A2F23536A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998" y="319932"/>
            <a:ext cx="4917778" cy="276625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EE2D8A-B008-1A30-7172-DCF42C354C80}"/>
              </a:ext>
            </a:extLst>
          </p:cNvPr>
          <p:cNvSpPr/>
          <p:nvPr/>
        </p:nvSpPr>
        <p:spPr>
          <a:xfrm>
            <a:off x="11099448" y="6448503"/>
            <a:ext cx="787752" cy="3053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3246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14BC4-1A8D-CA1A-85F2-122A0263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4D672B-94F6-E1C5-A2CC-01F7AC550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622517"/>
              </p:ext>
            </p:extLst>
          </p:nvPr>
        </p:nvGraphicFramePr>
        <p:xfrm>
          <a:off x="781672" y="1015325"/>
          <a:ext cx="10501465" cy="536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0899">
                  <a:extLst>
                    <a:ext uri="{9D8B030D-6E8A-4147-A177-3AD203B41FA5}">
                      <a16:colId xmlns:a16="http://schemas.microsoft.com/office/drawing/2014/main" val="12495649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423947529"/>
                    </a:ext>
                  </a:extLst>
                </a:gridCol>
                <a:gridCol w="2307772">
                  <a:extLst>
                    <a:ext uri="{9D8B030D-6E8A-4147-A177-3AD203B41FA5}">
                      <a16:colId xmlns:a16="http://schemas.microsoft.com/office/drawing/2014/main" val="25975995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228685228"/>
                    </a:ext>
                  </a:extLst>
                </a:gridCol>
                <a:gridCol w="2806794">
                  <a:extLst>
                    <a:ext uri="{9D8B030D-6E8A-4147-A177-3AD203B41FA5}">
                      <a16:colId xmlns:a16="http://schemas.microsoft.com/office/drawing/2014/main" val="3899542772"/>
                    </a:ext>
                  </a:extLst>
                </a:gridCol>
              </a:tblGrid>
              <a:tr h="4605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Project Name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Technology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Features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Limitations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Our Contribution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5013462"/>
                  </a:ext>
                </a:extLst>
              </a:tr>
              <a:tr h="9349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Orange HRM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Web (PHP/MySQL)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Comprehensive HR suite, cloud-based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Requires internet, complex setup, licensing costs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Desktop app, offline, lightweight, free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1691558"/>
                  </a:ext>
                </a:extLst>
              </a:tr>
              <a:tr h="6977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BambooHR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Web (Cloud)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Employee records, time tracking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Subscription-based, internet dependent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One-time setup, no recurring costs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0042349"/>
                  </a:ext>
                </a:extLst>
              </a:tr>
              <a:tr h="6977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Simple Employee DB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Java/Access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Basic CRUD operations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 attendance, payroll, leave management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Complete HR solution with all modules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8440583"/>
                  </a:ext>
                </a:extLst>
              </a:tr>
              <a:tr h="6977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HR Management CLI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Java Console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Employee management via CLI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 GUI, difficult for non-technical users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Modern Swing GUI, user-friendly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4067988"/>
                  </a:ext>
                </a:extLst>
              </a:tr>
              <a:tr h="16465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Our Project: Employee Management System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Java Swing + MySQL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Complete HR solution: Employee, Attendance, Leave, Payroll, Reports, Dashboard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Limited to single organization, desktop-only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Modular OOP architecture, comprehensive features, offline-capable, role-based access, PDF reports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B0400000000000000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401438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27AA17C-29D3-5706-3B6E-4F38BACB2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267" y="130912"/>
            <a:ext cx="10437870" cy="84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2352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Comparison Table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083787C-3547-9517-70E3-1087AE5AC306}"/>
              </a:ext>
            </a:extLst>
          </p:cNvPr>
          <p:cNvSpPr/>
          <p:nvPr/>
        </p:nvSpPr>
        <p:spPr>
          <a:xfrm>
            <a:off x="11099448" y="6448503"/>
            <a:ext cx="787752" cy="3053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2046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2F84D-8347-5544-8C64-9D2C3F8C3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CF7E97-124F-4A06-818D-C6EB0BE256C5}"/>
              </a:ext>
            </a:extLst>
          </p:cNvPr>
          <p:cNvSpPr txBox="1"/>
          <p:nvPr/>
        </p:nvSpPr>
        <p:spPr>
          <a:xfrm>
            <a:off x="845268" y="529771"/>
            <a:ext cx="5333999" cy="5267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Key Features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Implemented Features: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Add new employee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Update employee information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Delete employee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View employee details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Simple navigation system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The system is fully functional at the interface level.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D94EF-97EB-A938-339C-5D2519551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118"/>
          <a:stretch>
            <a:fillRect/>
          </a:stretch>
        </p:blipFill>
        <p:spPr>
          <a:xfrm>
            <a:off x="6096000" y="3087106"/>
            <a:ext cx="2933700" cy="31679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2C4C54-5CEE-F281-C411-533DC839F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52"/>
          <a:stretch>
            <a:fillRect/>
          </a:stretch>
        </p:blipFill>
        <p:spPr>
          <a:xfrm>
            <a:off x="6096000" y="152401"/>
            <a:ext cx="6102916" cy="28058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3D92F0-B096-E8DB-7ADA-FE8803527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300" y="3087106"/>
            <a:ext cx="2835620" cy="3180713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AAF2A1-320D-2B81-7406-19AFA13EE870}"/>
              </a:ext>
            </a:extLst>
          </p:cNvPr>
          <p:cNvSpPr/>
          <p:nvPr/>
        </p:nvSpPr>
        <p:spPr>
          <a:xfrm>
            <a:off x="11099448" y="6476729"/>
            <a:ext cx="787752" cy="3053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92299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21945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chemeClr val="bg1"/>
                </a:solidFill>
              </a:rPr>
              <a:t>System Architecture</a:t>
            </a:r>
            <a:endParaRPr lang="en-US" sz="3733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877824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A0B4FF"/>
                </a:solidFill>
              </a:rPr>
              <a:t>3-Tier MVC Architecture  |  Technology Stack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609600" y="1341120"/>
            <a:ext cx="6705600" cy="1219200"/>
          </a:xfrm>
          <a:prstGeom prst="rect">
            <a:avLst/>
          </a:prstGeom>
          <a:solidFill>
            <a:srgbClr val="0D1B3E"/>
          </a:solidFill>
          <a:ln w="254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600" y="1341120"/>
            <a:ext cx="97536" cy="1219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438656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Tier 1  Presentation Layer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877824" y="1804416"/>
            <a:ext cx="3657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A56DB"/>
                </a:solidFill>
              </a:rPr>
              <a:t>JavaFX 21.0 UI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3901440" y="1438656"/>
            <a:ext cx="32918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0B4FF"/>
                </a:solidFill>
              </a:rPr>
              <a:t>Login Window</a:t>
            </a:r>
            <a:endParaRPr lang="en-US" sz="1200" dirty="0"/>
          </a:p>
          <a:p>
            <a:r>
              <a:rPr lang="en-US" sz="1200" dirty="0">
                <a:solidFill>
                  <a:srgbClr val="A0B4FF"/>
                </a:solidFill>
              </a:rPr>
              <a:t>Main Window</a:t>
            </a:r>
            <a:endParaRPr lang="en-US" sz="1200" dirty="0"/>
          </a:p>
          <a:p>
            <a:r>
              <a:rPr lang="en-US" sz="1200" dirty="0">
                <a:solidFill>
                  <a:srgbClr val="A0B4FF"/>
                </a:solidFill>
              </a:rPr>
              <a:t>Modular Screens</a:t>
            </a:r>
            <a:endParaRPr lang="en-US" sz="1200" dirty="0"/>
          </a:p>
          <a:p>
            <a:r>
              <a:rPr lang="en-US" sz="1200" dirty="0">
                <a:solidFill>
                  <a:srgbClr val="A0B4FF"/>
                </a:solidFill>
              </a:rPr>
              <a:t>Dark/Light Theme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2560320"/>
            <a:ext cx="60960" cy="3657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600" y="2865120"/>
            <a:ext cx="6705600" cy="1219200"/>
          </a:xfrm>
          <a:prstGeom prst="rect">
            <a:avLst/>
          </a:prstGeom>
          <a:solidFill>
            <a:srgbClr val="0D1B3E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9600" y="2865120"/>
            <a:ext cx="97536" cy="1219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962656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Tier 2  Business Logic Layer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877824" y="3328416"/>
            <a:ext cx="3657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D9488"/>
                </a:solidFill>
              </a:rPr>
              <a:t>Java DAO Pattern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3901440" y="2962656"/>
            <a:ext cx="32918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0B4FF"/>
                </a:solidFill>
              </a:rPr>
              <a:t>EmployeeDAO</a:t>
            </a:r>
            <a:endParaRPr lang="en-US" sz="1200" dirty="0"/>
          </a:p>
          <a:p>
            <a:r>
              <a:rPr lang="en-US" sz="1200" dirty="0">
                <a:solidFill>
                  <a:srgbClr val="A0B4FF"/>
                </a:solidFill>
              </a:rPr>
              <a:t>DepartmentDAO</a:t>
            </a:r>
            <a:endParaRPr lang="en-US" sz="1200" dirty="0"/>
          </a:p>
          <a:p>
            <a:r>
              <a:rPr lang="en-US" sz="1200" dirty="0">
                <a:solidFill>
                  <a:srgbClr val="A0B4FF"/>
                </a:solidFill>
              </a:rPr>
              <a:t>LeaveDAO / BusDAO</a:t>
            </a:r>
            <a:endParaRPr lang="en-US" sz="1200" dirty="0"/>
          </a:p>
          <a:p>
            <a:r>
              <a:rPr lang="en-US" sz="1200" dirty="0">
                <a:solidFill>
                  <a:srgbClr val="A0B4FF"/>
                </a:solidFill>
              </a:rPr>
              <a:t>DAOFactory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0" y="4084320"/>
            <a:ext cx="609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" y="4389120"/>
            <a:ext cx="6705600" cy="1219200"/>
          </a:xfrm>
          <a:prstGeom prst="rect">
            <a:avLst/>
          </a:prstGeom>
          <a:solidFill>
            <a:srgbClr val="0D1B3E"/>
          </a:solidFill>
          <a:ln w="254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9600" y="4389120"/>
            <a:ext cx="97536" cy="1219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486656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Tier 3  Data Access Layer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877824" y="4852416"/>
            <a:ext cx="3657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B5CF6"/>
                </a:solidFill>
              </a:rPr>
              <a:t>MySQL + JDBC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3901440" y="4486656"/>
            <a:ext cx="32918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0B4FF"/>
                </a:solidFill>
              </a:rPr>
              <a:t>pust_ems Database</a:t>
            </a:r>
            <a:endParaRPr lang="en-US" sz="1200" dirty="0"/>
          </a:p>
          <a:p>
            <a:r>
              <a:rPr lang="en-US" sz="1200" dirty="0">
                <a:solidFill>
                  <a:srgbClr val="A0B4FF"/>
                </a:solidFill>
              </a:rPr>
              <a:t>7 Tables</a:t>
            </a:r>
            <a:endParaRPr lang="en-US" sz="1200" dirty="0"/>
          </a:p>
          <a:p>
            <a:r>
              <a:rPr lang="en-US" sz="1200" dirty="0">
                <a:solidFill>
                  <a:srgbClr val="A0B4FF"/>
                </a:solidFill>
              </a:rPr>
              <a:t>MySQL Connector/J</a:t>
            </a:r>
            <a:endParaRPr lang="en-US" sz="1200" dirty="0"/>
          </a:p>
          <a:p>
            <a:r>
              <a:rPr lang="en-US" sz="1200" dirty="0">
                <a:solidFill>
                  <a:srgbClr val="A0B4FF"/>
                </a:solidFill>
              </a:rPr>
              <a:t>Connection Pooling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02880" y="1219200"/>
            <a:ext cx="3901440" cy="463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85760" y="1341120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133" dirty="0">
                <a:solidFill>
                  <a:srgbClr val="0D9488"/>
                </a:solidFill>
              </a:rPr>
              <a:t>TECH STACK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7985760" y="1853184"/>
            <a:ext cx="3535680" cy="451104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7680" y="1975104"/>
            <a:ext cx="170688" cy="1706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8096" y="1926336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Java JDK 17+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7985760" y="2426208"/>
            <a:ext cx="3535680" cy="451104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07680" y="2548128"/>
            <a:ext cx="170688" cy="1706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8096" y="2499360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JavaFX 21.0.10</a:t>
            </a:r>
            <a:endParaRPr lang="en-US" sz="1467" dirty="0"/>
          </a:p>
        </p:txBody>
      </p:sp>
      <p:sp>
        <p:nvSpPr>
          <p:cNvPr id="30" name="Shape 28"/>
          <p:cNvSpPr/>
          <p:nvPr/>
        </p:nvSpPr>
        <p:spPr>
          <a:xfrm>
            <a:off x="7985760" y="2999232"/>
            <a:ext cx="3535680" cy="451104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07680" y="3121152"/>
            <a:ext cx="170688" cy="1706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88096" y="3072384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MySQL 8.0</a:t>
            </a:r>
            <a:endParaRPr lang="en-US" sz="1467" dirty="0"/>
          </a:p>
        </p:txBody>
      </p:sp>
      <p:sp>
        <p:nvSpPr>
          <p:cNvPr id="33" name="Shape 31"/>
          <p:cNvSpPr/>
          <p:nvPr/>
        </p:nvSpPr>
        <p:spPr>
          <a:xfrm>
            <a:off x="7985760" y="3572256"/>
            <a:ext cx="3535680" cy="451104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07680" y="3694176"/>
            <a:ext cx="170688" cy="1706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8096" y="3645408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JDBC Connector/J 9.6</a:t>
            </a:r>
            <a:endParaRPr lang="en-US" sz="1467" dirty="0"/>
          </a:p>
        </p:txBody>
      </p:sp>
      <p:sp>
        <p:nvSpPr>
          <p:cNvPr id="36" name="Shape 34"/>
          <p:cNvSpPr/>
          <p:nvPr/>
        </p:nvSpPr>
        <p:spPr>
          <a:xfrm>
            <a:off x="7985760" y="4145280"/>
            <a:ext cx="3535680" cy="451104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07680" y="4267200"/>
            <a:ext cx="170688" cy="1706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88096" y="4218432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CSS Styling</a:t>
            </a:r>
            <a:endParaRPr lang="en-US" sz="1467" dirty="0"/>
          </a:p>
        </p:txBody>
      </p:sp>
      <p:sp>
        <p:nvSpPr>
          <p:cNvPr id="39" name="Shape 37"/>
          <p:cNvSpPr/>
          <p:nvPr/>
        </p:nvSpPr>
        <p:spPr>
          <a:xfrm>
            <a:off x="7985760" y="4718304"/>
            <a:ext cx="3535680" cy="451104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07680" y="4840224"/>
            <a:ext cx="170688" cy="17068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88096" y="4791456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Windows 10/11</a:t>
            </a:r>
            <a:endParaRPr lang="en-US" sz="1467" dirty="0"/>
          </a:p>
        </p:txBody>
      </p:sp>
      <p:sp>
        <p:nvSpPr>
          <p:cNvPr id="42" name="Shape 40"/>
          <p:cNvSpPr/>
          <p:nvPr/>
        </p:nvSpPr>
        <p:spPr>
          <a:xfrm>
            <a:off x="7985760" y="5291328"/>
            <a:ext cx="3535680" cy="451104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07680" y="5413248"/>
            <a:ext cx="170688" cy="1706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88096" y="5364480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IntelliJ / VS Code</a:t>
            </a:r>
            <a:endParaRPr lang="en-US" sz="1467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0A9F01CB-D855-EA1F-8F1C-2D3E333C1B49}"/>
              </a:ext>
            </a:extLst>
          </p:cNvPr>
          <p:cNvSpPr/>
          <p:nvPr/>
        </p:nvSpPr>
        <p:spPr>
          <a:xfrm>
            <a:off x="11099448" y="6448503"/>
            <a:ext cx="787752" cy="3053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A60212-84DD-054C-2868-07C58C9DA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30"/>
            <a:ext cx="12192000" cy="6849140"/>
          </a:xfrm>
          <a:prstGeom prst="rect">
            <a:avLst/>
          </a:prstGeom>
        </p:spPr>
      </p:pic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EF58F8FE-07F3-2C14-DF94-971CA005E757}"/>
              </a:ext>
            </a:extLst>
          </p:cNvPr>
          <p:cNvSpPr/>
          <p:nvPr/>
        </p:nvSpPr>
        <p:spPr>
          <a:xfrm>
            <a:off x="11099448" y="6448503"/>
            <a:ext cx="787752" cy="3053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08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5E6137-1F6A-75C2-4D43-F847ED802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4" t="3273" r="56770" b="86714"/>
          <a:stretch>
            <a:fillRect/>
          </a:stretch>
        </p:blipFill>
        <p:spPr>
          <a:xfrm>
            <a:off x="342900" y="190500"/>
            <a:ext cx="42545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92F24-08FF-FA33-7EE3-51D5FB6A7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>
            <a:extLst>
              <a:ext uri="{FF2B5EF4-FFF2-40B4-BE49-F238E27FC236}">
                <a16:creationId xmlns:a16="http://schemas.microsoft.com/office/drawing/2014/main" id="{42EDCF0D-3C55-01CC-748F-0BFB93C96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8EEE5EAA-BF01-814A-9985-E11509A65D6F}"/>
              </a:ext>
            </a:extLst>
          </p:cNvPr>
          <p:cNvSpPr/>
          <p:nvPr/>
        </p:nvSpPr>
        <p:spPr>
          <a:xfrm>
            <a:off x="10756548" y="6473903"/>
            <a:ext cx="787752" cy="384097"/>
          </a:xfrm>
          <a:prstGeom prst="roundRect">
            <a:avLst>
              <a:gd name="adj" fmla="val 50000"/>
            </a:avLst>
          </a:prstGeom>
          <a:solidFill>
            <a:srgbClr val="111C3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7716F87-5DBE-2827-D434-CCB7FCD0F19F}"/>
              </a:ext>
            </a:extLst>
          </p:cNvPr>
          <p:cNvSpPr/>
          <p:nvPr/>
        </p:nvSpPr>
        <p:spPr>
          <a:xfrm>
            <a:off x="11099448" y="6448503"/>
            <a:ext cx="787752" cy="3053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09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9BB0D6A-9E81-12E5-323F-4D7570AD1A58}"/>
              </a:ext>
            </a:extLst>
          </p:cNvPr>
          <p:cNvSpPr/>
          <p:nvPr/>
        </p:nvSpPr>
        <p:spPr>
          <a:xfrm>
            <a:off x="10772776" y="6471522"/>
            <a:ext cx="176212" cy="98347"/>
          </a:xfrm>
          <a:prstGeom prst="rect">
            <a:avLst/>
          </a:prstGeom>
          <a:solidFill>
            <a:srgbClr val="FFCE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41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64AB16-0B42-F59B-858F-83878C859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156;p12">
            <a:extLst>
              <a:ext uri="{FF2B5EF4-FFF2-40B4-BE49-F238E27FC236}">
                <a16:creationId xmlns:a16="http://schemas.microsoft.com/office/drawing/2014/main" id="{A77B29E2-855C-4A15-2B70-5EC01E03CF01}"/>
              </a:ext>
            </a:extLst>
          </p:cNvPr>
          <p:cNvSpPr/>
          <p:nvPr/>
        </p:nvSpPr>
        <p:spPr>
          <a:xfrm>
            <a:off x="2818329" y="309764"/>
            <a:ext cx="6555342" cy="600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4472C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timeline Gantt Chart</a:t>
            </a:r>
            <a:endParaRPr sz="3300" b="1" i="0" u="none" strike="noStrike" cap="none" dirty="0">
              <a:solidFill>
                <a:srgbClr val="4472C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FE2ACF-84B5-A917-C942-A020F4F8A568}"/>
              </a:ext>
            </a:extLst>
          </p:cNvPr>
          <p:cNvSpPr txBox="1"/>
          <p:nvPr/>
        </p:nvSpPr>
        <p:spPr>
          <a:xfrm>
            <a:off x="1327288" y="1910078"/>
            <a:ext cx="221240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Requirement Analysis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478B74-DCC3-B4AB-52E2-5DB99C126CE5}"/>
              </a:ext>
            </a:extLst>
          </p:cNvPr>
          <p:cNvSpPr txBox="1"/>
          <p:nvPr/>
        </p:nvSpPr>
        <p:spPr>
          <a:xfrm>
            <a:off x="1831080" y="2698188"/>
            <a:ext cx="170860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Project Planning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FFF178-802D-930C-1487-D63EE433D5FC}"/>
              </a:ext>
            </a:extLst>
          </p:cNvPr>
          <p:cNvSpPr txBox="1"/>
          <p:nvPr/>
        </p:nvSpPr>
        <p:spPr>
          <a:xfrm>
            <a:off x="2004076" y="3436184"/>
            <a:ext cx="153561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System Design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551BA2-D9E2-5142-A28C-BCFE3CB93E71}"/>
              </a:ext>
            </a:extLst>
          </p:cNvPr>
          <p:cNvSpPr txBox="1"/>
          <p:nvPr/>
        </p:nvSpPr>
        <p:spPr>
          <a:xfrm>
            <a:off x="2184831" y="3989879"/>
            <a:ext cx="13548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Admin Login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8CE9C6C-D701-EA65-2399-C7D32EF522FF}"/>
              </a:ext>
            </a:extLst>
          </p:cNvPr>
          <p:cNvSpPr txBox="1"/>
          <p:nvPr/>
        </p:nvSpPr>
        <p:spPr>
          <a:xfrm>
            <a:off x="2235165" y="4747244"/>
            <a:ext cx="130452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Registration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813B94-6814-C542-6093-85B9858FDE46}"/>
              </a:ext>
            </a:extLst>
          </p:cNvPr>
          <p:cNvSpPr txBox="1"/>
          <p:nvPr/>
        </p:nvSpPr>
        <p:spPr>
          <a:xfrm>
            <a:off x="2001319" y="5451734"/>
            <a:ext cx="15383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Add Employee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349D91-44DE-983B-74A7-D7F5ABE40044}"/>
              </a:ext>
            </a:extLst>
          </p:cNvPr>
          <p:cNvSpPr txBox="1"/>
          <p:nvPr/>
        </p:nvSpPr>
        <p:spPr>
          <a:xfrm rot="16200000">
            <a:off x="482693" y="2988724"/>
            <a:ext cx="107958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Planning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CDE2AF4-720F-9903-4E7F-E5FEE32E293E}"/>
              </a:ext>
            </a:extLst>
          </p:cNvPr>
          <p:cNvGrpSpPr/>
          <p:nvPr/>
        </p:nvGrpSpPr>
        <p:grpSpPr>
          <a:xfrm>
            <a:off x="3627958" y="1154895"/>
            <a:ext cx="7551092" cy="5149652"/>
            <a:chOff x="3982658" y="1154895"/>
            <a:chExt cx="7551092" cy="514965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4D38596-5211-81FC-9956-A40AEAF88676}"/>
                </a:ext>
              </a:extLst>
            </p:cNvPr>
            <p:cNvGrpSpPr/>
            <p:nvPr/>
          </p:nvGrpSpPr>
          <p:grpSpPr>
            <a:xfrm>
              <a:off x="3982658" y="1154895"/>
              <a:ext cx="7551092" cy="384721"/>
              <a:chOff x="3982658" y="1154895"/>
              <a:chExt cx="7551092" cy="384721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0456399-CFE7-7288-5260-43222C61F708}"/>
                  </a:ext>
                </a:extLst>
              </p:cNvPr>
              <p:cNvSpPr txBox="1"/>
              <p:nvPr/>
            </p:nvSpPr>
            <p:spPr>
              <a:xfrm>
                <a:off x="3982658" y="1154896"/>
                <a:ext cx="78579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Jan 10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826A5B1-561F-95A6-525F-08BEEF424BD7}"/>
                  </a:ext>
                </a:extLst>
              </p:cNvPr>
              <p:cNvSpPr txBox="1"/>
              <p:nvPr/>
            </p:nvSpPr>
            <p:spPr>
              <a:xfrm>
                <a:off x="5604301" y="1154895"/>
                <a:ext cx="78579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Jan 17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11D6CEB-9987-5E19-30F7-ABA7195DA4AF}"/>
                  </a:ext>
                </a:extLst>
              </p:cNvPr>
              <p:cNvSpPr txBox="1"/>
              <p:nvPr/>
            </p:nvSpPr>
            <p:spPr>
              <a:xfrm>
                <a:off x="7302888" y="1154896"/>
                <a:ext cx="78579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Jan 24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5F012EC-2929-91F8-4296-677E437CC781}"/>
                  </a:ext>
                </a:extLst>
              </p:cNvPr>
              <p:cNvSpPr txBox="1"/>
              <p:nvPr/>
            </p:nvSpPr>
            <p:spPr>
              <a:xfrm>
                <a:off x="9001475" y="1154895"/>
                <a:ext cx="69583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Feb 3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AD4A730-A260-D14F-6BDC-CDC95887D1C2}"/>
                  </a:ext>
                </a:extLst>
              </p:cNvPr>
              <p:cNvSpPr txBox="1"/>
              <p:nvPr/>
            </p:nvSpPr>
            <p:spPr>
              <a:xfrm>
                <a:off x="10668000" y="1170284"/>
                <a:ext cx="86575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Feb 14 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CD7FF02-CB3A-8018-8498-54E6A7E6208B}"/>
                </a:ext>
              </a:extLst>
            </p:cNvPr>
            <p:cNvGrpSpPr/>
            <p:nvPr/>
          </p:nvGrpSpPr>
          <p:grpSpPr>
            <a:xfrm>
              <a:off x="4309723" y="1447283"/>
              <a:ext cx="6701589" cy="4857264"/>
              <a:chOff x="4283242" y="1447283"/>
              <a:chExt cx="6701589" cy="485726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89889405-0DA8-DABD-B353-E811479223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3242" y="1447283"/>
                <a:ext cx="0" cy="4857264"/>
              </a:xfrm>
              <a:prstGeom prst="line">
                <a:avLst/>
              </a:prstGeom>
              <a:ln>
                <a:solidFill>
                  <a:schemeClr val="bg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E43715A0-36DC-56B7-48E6-4191F2BBE8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8639" y="1447283"/>
                <a:ext cx="0" cy="4857264"/>
              </a:xfrm>
              <a:prstGeom prst="line">
                <a:avLst/>
              </a:prstGeom>
              <a:ln>
                <a:solidFill>
                  <a:schemeClr val="bg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677DB84E-BE91-F233-7FD2-197001C32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34036" y="1447283"/>
                <a:ext cx="0" cy="4857264"/>
              </a:xfrm>
              <a:prstGeom prst="line">
                <a:avLst/>
              </a:prstGeom>
              <a:ln>
                <a:solidFill>
                  <a:schemeClr val="bg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1A3B2799-D3B7-C9AF-919E-5CBB5E9FD0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09433" y="1447283"/>
                <a:ext cx="0" cy="4857264"/>
              </a:xfrm>
              <a:prstGeom prst="line">
                <a:avLst/>
              </a:prstGeom>
              <a:ln>
                <a:solidFill>
                  <a:schemeClr val="bg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9D8A85E7-B451-85D3-DAB2-9E211E9983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84831" y="1447283"/>
                <a:ext cx="0" cy="4857264"/>
              </a:xfrm>
              <a:prstGeom prst="line">
                <a:avLst/>
              </a:prstGeom>
              <a:ln>
                <a:solidFill>
                  <a:schemeClr val="bg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D2761964-F47F-FE7A-3752-0D5C398C5779}"/>
              </a:ext>
            </a:extLst>
          </p:cNvPr>
          <p:cNvSpPr/>
          <p:nvPr/>
        </p:nvSpPr>
        <p:spPr>
          <a:xfrm>
            <a:off x="4116527" y="2019460"/>
            <a:ext cx="446409" cy="1505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CF56C2B-46B6-AA2A-66F9-8B9D8953BA8F}"/>
              </a:ext>
            </a:extLst>
          </p:cNvPr>
          <p:cNvSpPr/>
          <p:nvPr/>
        </p:nvSpPr>
        <p:spPr>
          <a:xfrm>
            <a:off x="4562936" y="2807570"/>
            <a:ext cx="756931" cy="1505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0E3AA71-1A62-3C12-A41B-1D79CA07C6E2}"/>
              </a:ext>
            </a:extLst>
          </p:cNvPr>
          <p:cNvSpPr/>
          <p:nvPr/>
        </p:nvSpPr>
        <p:spPr>
          <a:xfrm>
            <a:off x="6229327" y="3545566"/>
            <a:ext cx="1336696" cy="1505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3DA9198-275C-1EC0-CDC3-DA974DF19D1B}"/>
              </a:ext>
            </a:extLst>
          </p:cNvPr>
          <p:cNvSpPr/>
          <p:nvPr/>
        </p:nvSpPr>
        <p:spPr>
          <a:xfrm>
            <a:off x="7566023" y="4099261"/>
            <a:ext cx="1415191" cy="1505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461D569-25E0-B2E7-5AAE-BB34E57C0849}"/>
              </a:ext>
            </a:extLst>
          </p:cNvPr>
          <p:cNvSpPr/>
          <p:nvPr/>
        </p:nvSpPr>
        <p:spPr>
          <a:xfrm>
            <a:off x="8570902" y="4856626"/>
            <a:ext cx="1487497" cy="1505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31607B0-20CA-5AA9-FE56-1C87B06F056C}"/>
              </a:ext>
            </a:extLst>
          </p:cNvPr>
          <p:cNvSpPr/>
          <p:nvPr/>
        </p:nvSpPr>
        <p:spPr>
          <a:xfrm>
            <a:off x="10175876" y="5561116"/>
            <a:ext cx="700144" cy="1505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FC704693-A0B5-0A17-82FA-D7B7988F3331}"/>
              </a:ext>
            </a:extLst>
          </p:cNvPr>
          <p:cNvSpPr/>
          <p:nvPr/>
        </p:nvSpPr>
        <p:spPr>
          <a:xfrm>
            <a:off x="11099448" y="6448503"/>
            <a:ext cx="787752" cy="3053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10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F0A8878-878C-C14C-47C1-B6F86A1FEE65}"/>
              </a:ext>
            </a:extLst>
          </p:cNvPr>
          <p:cNvSpPr txBox="1"/>
          <p:nvPr/>
        </p:nvSpPr>
        <p:spPr>
          <a:xfrm rot="16200000">
            <a:off x="157193" y="5017009"/>
            <a:ext cx="173059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Development</a:t>
            </a:r>
          </a:p>
        </p:txBody>
      </p:sp>
    </p:spTree>
    <p:extLst>
      <p:ext uri="{BB962C8B-B14F-4D97-AF65-F5344CB8AC3E}">
        <p14:creationId xmlns:p14="http://schemas.microsoft.com/office/powerpoint/2010/main" val="2789546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19200" y="-1219200"/>
            <a:ext cx="6096000" cy="60960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34400" y="3048000"/>
            <a:ext cx="4876800" cy="48768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10972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4800" dirty="0"/>
          </a:p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87680" y="2657856"/>
            <a:ext cx="1219200" cy="60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680" y="2901696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D9488"/>
                </a:solidFill>
              </a:rPr>
              <a:t>What We Built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487680" y="3474720"/>
            <a:ext cx="170688" cy="1706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5904" y="3438144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0D8FF"/>
                </a:solidFill>
              </a:rPr>
              <a:t>Complete Employee Management System for PUST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487680" y="3938016"/>
            <a:ext cx="170688" cy="1706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5904" y="3901440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0D8FF"/>
                </a:solidFill>
              </a:rPr>
              <a:t>28 Faculty + 9 Staff + Admin users loaded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487680" y="4401312"/>
            <a:ext cx="170688" cy="1706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5904" y="4364736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0D8FF"/>
                </a:solidFill>
              </a:rPr>
              <a:t>6 functional modules with full CRUD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487680" y="4864608"/>
            <a:ext cx="170688" cy="1706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904" y="4828032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0D8FF"/>
                </a:solidFill>
              </a:rPr>
              <a:t>Dark &amp; Light theme with JavaFX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487680" y="5327904"/>
            <a:ext cx="170688" cy="1706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5904" y="5291328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0D8FF"/>
                </a:solidFill>
              </a:rPr>
              <a:t>MySQL backend with 7 normalized tables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487680" y="5791200"/>
            <a:ext cx="170688" cy="1706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5904" y="5754624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0D8FF"/>
                </a:solidFill>
              </a:rPr>
              <a:t>Login system with role-based access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6705600" y="2901696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59E0B"/>
                </a:solidFill>
              </a:rPr>
              <a:t>Future Scope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6705600" y="3474720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0D8FF"/>
                </a:solidFill>
              </a:rPr>
              <a:t>📧  Email notification system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6705600" y="3938016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0D8FF"/>
                </a:solidFill>
              </a:rPr>
              <a:t>📊  Analytics &amp; reporting dashboard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6705600" y="4401312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0D8FF"/>
                </a:solidFill>
              </a:rPr>
              <a:t>📱  Mobile app version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6705600" y="4864608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0D8FF"/>
                </a:solidFill>
              </a:rPr>
              <a:t>☁   Cloud / online deployment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6705600" y="5327904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0D8FF"/>
                </a:solidFill>
              </a:rPr>
              <a:t>🔐  Biometric attendance integration</a:t>
            </a:r>
            <a:endParaRPr lang="en-US" sz="1467" dirty="0"/>
          </a:p>
        </p:txBody>
      </p:sp>
      <p:sp>
        <p:nvSpPr>
          <p:cNvPr id="27" name="Text 25"/>
          <p:cNvSpPr/>
          <p:nvPr/>
        </p:nvSpPr>
        <p:spPr>
          <a:xfrm>
            <a:off x="6705600" y="5791200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0D8FF"/>
                </a:solidFill>
              </a:rPr>
              <a:t>📄  PDF payslip generation</a:t>
            </a:r>
            <a:endParaRPr lang="en-US" sz="1467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6AC6508-9423-DEC8-E7BE-27023BED7EF7}"/>
              </a:ext>
            </a:extLst>
          </p:cNvPr>
          <p:cNvSpPr/>
          <p:nvPr/>
        </p:nvSpPr>
        <p:spPr>
          <a:xfrm>
            <a:off x="11099448" y="6476729"/>
            <a:ext cx="787752" cy="3053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146BF-9908-A2D6-F0CF-2CDF8921B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30ACCC62-560C-B25F-B942-84CE39D8AAE1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DC1E0E0-5A7B-81B7-7845-5CE2AD7FA758}"/>
              </a:ext>
            </a:extLst>
          </p:cNvPr>
          <p:cNvSpPr/>
          <p:nvPr/>
        </p:nvSpPr>
        <p:spPr>
          <a:xfrm>
            <a:off x="-1219201" y="-1480734"/>
            <a:ext cx="6807201" cy="1967569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A43F0E-B6E5-D291-2554-696DFEC3437B}"/>
              </a:ext>
            </a:extLst>
          </p:cNvPr>
          <p:cNvGrpSpPr/>
          <p:nvPr/>
        </p:nvGrpSpPr>
        <p:grpSpPr>
          <a:xfrm>
            <a:off x="0" y="6400800"/>
            <a:ext cx="12192000" cy="457200"/>
            <a:chOff x="0" y="6400800"/>
            <a:chExt cx="12192000" cy="457200"/>
          </a:xfrm>
        </p:grpSpPr>
        <p:sp>
          <p:nvSpPr>
            <p:cNvPr id="5" name="Shape 26">
              <a:extLst>
                <a:ext uri="{FF2B5EF4-FFF2-40B4-BE49-F238E27FC236}">
                  <a16:creationId xmlns:a16="http://schemas.microsoft.com/office/drawing/2014/main" id="{7EDF02A8-0EB2-6BD1-65B8-E6A47317B600}"/>
                </a:ext>
              </a:extLst>
            </p:cNvPr>
            <p:cNvSpPr/>
            <p:nvPr/>
          </p:nvSpPr>
          <p:spPr>
            <a:xfrm>
              <a:off x="0" y="6400800"/>
              <a:ext cx="12192000" cy="457200"/>
            </a:xfrm>
            <a:prstGeom prst="rect">
              <a:avLst/>
            </a:prstGeom>
            <a:solidFill>
              <a:srgbClr val="0A1228"/>
            </a:solidFill>
            <a:ln w="12700">
              <a:solidFill>
                <a:srgbClr val="0A1228"/>
              </a:solidFill>
              <a:prstDash val="solid"/>
            </a:ln>
          </p:spPr>
        </p:sp>
        <p:sp>
          <p:nvSpPr>
            <p:cNvPr id="6" name="Text 27">
              <a:extLst>
                <a:ext uri="{FF2B5EF4-FFF2-40B4-BE49-F238E27FC236}">
                  <a16:creationId xmlns:a16="http://schemas.microsoft.com/office/drawing/2014/main" id="{E7D212CC-0D0A-6703-1202-4DB7B4F9FDE7}"/>
                </a:ext>
              </a:extLst>
            </p:cNvPr>
            <p:cNvSpPr/>
            <p:nvPr/>
          </p:nvSpPr>
          <p:spPr>
            <a:xfrm>
              <a:off x="0" y="6412992"/>
              <a:ext cx="12058650" cy="426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333" dirty="0">
                  <a:solidFill>
                    <a:srgbClr val="3E4565"/>
                  </a:solidFill>
                </a:rPr>
                <a:t>PUB EMS  |  Pundra University of Science &amp; Technology, Bogura  |  JavaFX + MySQL</a:t>
              </a:r>
              <a:endParaRPr lang="en-US" sz="1333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1C15D96-ECA7-BA7B-4A27-ACCA18D2B65A}"/>
              </a:ext>
            </a:extLst>
          </p:cNvPr>
          <p:cNvSpPr txBox="1"/>
          <p:nvPr/>
        </p:nvSpPr>
        <p:spPr>
          <a:xfrm>
            <a:off x="845268" y="505123"/>
            <a:ext cx="1050146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4472C4"/>
                </a:solidFill>
              </a:rPr>
              <a:t>References</a:t>
            </a:r>
          </a:p>
          <a:p>
            <a:endParaRPr lang="en-US" sz="2400" dirty="0"/>
          </a:p>
          <a:p>
            <a:r>
              <a:rPr lang="en-US" sz="2400" dirty="0"/>
              <a:t>[1] Oracle Corporation, "Java Swing Tutorial," Oracle Java Documentation, 2024. [Online]. </a:t>
            </a:r>
            <a:r>
              <a:rPr lang="en-US" sz="2400" b="1" dirty="0"/>
              <a:t>Available</a:t>
            </a:r>
            <a:r>
              <a:rPr lang="en-US" sz="2400" dirty="0"/>
              <a:t>: </a:t>
            </a:r>
            <a:r>
              <a:rPr lang="en-US" sz="2400" dirty="0">
                <a:hlinkClick r:id="rId2"/>
              </a:rPr>
              <a:t>https://docs.oracle.com/javase/tutorial/uiswing/</a:t>
            </a:r>
            <a:r>
              <a:rPr lang="en-GB" sz="2400" dirty="0"/>
              <a:t> [Accessed: January 16, 2026].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[2] MySQL Documentation, "MySQL 8.0 Reference Manual," MySQL, 2024. [Online].</a:t>
            </a:r>
          </a:p>
          <a:p>
            <a:r>
              <a:rPr lang="en-US" sz="2400" b="1" dirty="0"/>
              <a:t>Available</a:t>
            </a:r>
            <a:r>
              <a:rPr lang="en-US" sz="2400" dirty="0"/>
              <a:t>: </a:t>
            </a:r>
            <a:r>
              <a:rPr lang="en-US" sz="2400" dirty="0">
                <a:hlinkClick r:id="rId3"/>
              </a:rPr>
              <a:t>https://dev.mysql.com/doc/</a:t>
            </a:r>
            <a:r>
              <a:rPr lang="en-GB" sz="2400" dirty="0"/>
              <a:t> [Accessed: January 31, 2026].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[3] </a:t>
            </a:r>
            <a:r>
              <a:rPr lang="en-US" sz="2400" dirty="0" err="1"/>
              <a:t>GeeksforGeeks</a:t>
            </a:r>
            <a:r>
              <a:rPr lang="en-US" sz="2400" dirty="0"/>
              <a:t>, "Java Database Connectivity (JDBC)," 2024. [Online]. </a:t>
            </a:r>
            <a:r>
              <a:rPr lang="en-US" sz="2400" b="1" dirty="0"/>
              <a:t>Available</a:t>
            </a:r>
            <a:r>
              <a:rPr lang="en-US" sz="2400" dirty="0"/>
              <a:t>: </a:t>
            </a:r>
            <a:r>
              <a:rPr lang="en-US" sz="2400" dirty="0">
                <a:hlinkClick r:id="rId4"/>
              </a:rPr>
              <a:t>https://www.geeksforgeeks.org/jdbc-drivers/</a:t>
            </a:r>
            <a:r>
              <a:rPr lang="en-GB" sz="2400" dirty="0"/>
              <a:t> [Accessed: 14 February, 2026].</a:t>
            </a:r>
            <a:endParaRPr lang="en-US" sz="2400" dirty="0"/>
          </a:p>
          <a:p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FE40E7-AF01-5A08-559E-ECB0A8D9F101}"/>
              </a:ext>
            </a:extLst>
          </p:cNvPr>
          <p:cNvSpPr/>
          <p:nvPr/>
        </p:nvSpPr>
        <p:spPr>
          <a:xfrm>
            <a:off x="11099448" y="6476729"/>
            <a:ext cx="787752" cy="3053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1963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A83BC-E69D-5DFE-A3A5-1465D67D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51EEA4B3-235C-F94E-2B89-02FDB1E2F557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9818C7D7-3973-8775-4683-AA5DFCE759F7}"/>
              </a:ext>
            </a:extLst>
          </p:cNvPr>
          <p:cNvSpPr/>
          <p:nvPr/>
        </p:nvSpPr>
        <p:spPr>
          <a:xfrm>
            <a:off x="-1219200" y="-1219200"/>
            <a:ext cx="6096000" cy="60960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E44321-BD76-17EE-2448-0F266A261254}"/>
              </a:ext>
            </a:extLst>
          </p:cNvPr>
          <p:cNvSpPr txBox="1"/>
          <p:nvPr/>
        </p:nvSpPr>
        <p:spPr>
          <a:xfrm>
            <a:off x="845267" y="1292352"/>
            <a:ext cx="1050146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b="1" dirty="0">
                <a:solidFill>
                  <a:schemeClr val="bg1">
                    <a:lumMod val="95000"/>
                  </a:schemeClr>
                </a:solidFill>
              </a:rPr>
              <a:t>Thank You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C579072-D63E-A4A3-74A4-1D7648AA5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" t="47433" r="100000" b="47841"/>
          <a:stretch>
            <a:fillRect/>
          </a:stretch>
        </p:blipFill>
        <p:spPr>
          <a:xfrm>
            <a:off x="5326477" y="5874593"/>
            <a:ext cx="2004" cy="79379"/>
          </a:xfrm>
          <a:custGeom>
            <a:avLst/>
            <a:gdLst>
              <a:gd name="csX0" fmla="*/ 2004 w 2004"/>
              <a:gd name="csY0" fmla="*/ 0 h 79379"/>
              <a:gd name="csX1" fmla="*/ 2004 w 2004"/>
              <a:gd name="csY1" fmla="*/ 79379 h 79379"/>
              <a:gd name="csX2" fmla="*/ 0 w 2004"/>
              <a:gd name="csY2" fmla="*/ 39689 h 79379"/>
              <a:gd name="csX3" fmla="*/ 2004 w 2004"/>
              <a:gd name="csY3" fmla="*/ 0 h 793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04" h="79379">
                <a:moveTo>
                  <a:pt x="2004" y="0"/>
                </a:moveTo>
                <a:lnTo>
                  <a:pt x="2004" y="79379"/>
                </a:lnTo>
                <a:lnTo>
                  <a:pt x="0" y="39689"/>
                </a:lnTo>
                <a:lnTo>
                  <a:pt x="2004" y="0"/>
                </a:lnTo>
                <a:close/>
              </a:path>
            </a:pathLst>
          </a:cu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1079F36-FB54-F91C-DC6D-49B790D15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" b="408"/>
          <a:stretch>
            <a:fillRect/>
          </a:stretch>
        </p:blipFill>
        <p:spPr>
          <a:xfrm>
            <a:off x="2704563" y="4752439"/>
            <a:ext cx="1405878" cy="1407563"/>
          </a:xfrm>
          <a:custGeom>
            <a:avLst/>
            <a:gdLst>
              <a:gd name="csX0" fmla="*/ 834395 w 1670834"/>
              <a:gd name="csY0" fmla="*/ 0 h 1672837"/>
              <a:gd name="csX1" fmla="*/ 834435 w 1670834"/>
              <a:gd name="csY1" fmla="*/ 0 h 1672837"/>
              <a:gd name="csX2" fmla="*/ 919934 w 1670834"/>
              <a:gd name="csY2" fmla="*/ 4317 h 1672837"/>
              <a:gd name="csX3" fmla="*/ 1670834 w 1670834"/>
              <a:gd name="csY3" fmla="*/ 836418 h 1672837"/>
              <a:gd name="csX4" fmla="*/ 834415 w 1670834"/>
              <a:gd name="csY4" fmla="*/ 1672837 h 1672837"/>
              <a:gd name="csX5" fmla="*/ 2314 w 1670834"/>
              <a:gd name="csY5" fmla="*/ 921937 h 1672837"/>
              <a:gd name="csX6" fmla="*/ 0 w 1670834"/>
              <a:gd name="csY6" fmla="*/ 876108 h 1672837"/>
              <a:gd name="csX7" fmla="*/ 0 w 1670834"/>
              <a:gd name="csY7" fmla="*/ 796729 h 1672837"/>
              <a:gd name="csX8" fmla="*/ 2314 w 1670834"/>
              <a:gd name="csY8" fmla="*/ 750899 h 1672837"/>
              <a:gd name="csX9" fmla="*/ 748896 w 1670834"/>
              <a:gd name="csY9" fmla="*/ 4317 h 1672837"/>
              <a:gd name="csX10" fmla="*/ 834395 w 1670834"/>
              <a:gd name="csY10" fmla="*/ 0 h 1672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670834" h="1672837">
                <a:moveTo>
                  <a:pt x="834395" y="0"/>
                </a:moveTo>
                <a:lnTo>
                  <a:pt x="834435" y="0"/>
                </a:lnTo>
                <a:lnTo>
                  <a:pt x="919934" y="4317"/>
                </a:lnTo>
                <a:cubicBezTo>
                  <a:pt x="1341703" y="47151"/>
                  <a:pt x="1670834" y="403349"/>
                  <a:pt x="1670834" y="836418"/>
                </a:cubicBezTo>
                <a:cubicBezTo>
                  <a:pt x="1670834" y="1298359"/>
                  <a:pt x="1296356" y="1672837"/>
                  <a:pt x="834415" y="1672837"/>
                </a:cubicBezTo>
                <a:cubicBezTo>
                  <a:pt x="401346" y="1672837"/>
                  <a:pt x="45148" y="1343706"/>
                  <a:pt x="2314" y="921937"/>
                </a:cubicBezTo>
                <a:lnTo>
                  <a:pt x="0" y="876108"/>
                </a:lnTo>
                <a:lnTo>
                  <a:pt x="0" y="796729"/>
                </a:lnTo>
                <a:lnTo>
                  <a:pt x="2314" y="750899"/>
                </a:lnTo>
                <a:cubicBezTo>
                  <a:pt x="42292" y="357248"/>
                  <a:pt x="355245" y="44295"/>
                  <a:pt x="748896" y="4317"/>
                </a:cubicBezTo>
                <a:lnTo>
                  <a:pt x="834395" y="0"/>
                </a:lnTo>
                <a:close/>
              </a:path>
            </a:pathLst>
          </a:cu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99DFFDE-F132-8A61-0D1E-20217B294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"/>
          <a:stretch>
            <a:fillRect/>
          </a:stretch>
        </p:blipFill>
        <p:spPr>
          <a:xfrm>
            <a:off x="4561845" y="5304822"/>
            <a:ext cx="1405878" cy="1405878"/>
          </a:xfrm>
          <a:custGeom>
            <a:avLst/>
            <a:gdLst>
              <a:gd name="csX0" fmla="*/ 918237 w 1836473"/>
              <a:gd name="csY0" fmla="*/ 0 h 1836473"/>
              <a:gd name="csX1" fmla="*/ 1831733 w 1836473"/>
              <a:gd name="csY1" fmla="*/ 824353 h 1836473"/>
              <a:gd name="csX2" fmla="*/ 1836473 w 1836473"/>
              <a:gd name="csY2" fmla="*/ 918217 h 1836473"/>
              <a:gd name="csX3" fmla="*/ 1836473 w 1836473"/>
              <a:gd name="csY3" fmla="*/ 918257 h 1836473"/>
              <a:gd name="csX4" fmla="*/ 1831733 w 1836473"/>
              <a:gd name="csY4" fmla="*/ 1012121 h 1836473"/>
              <a:gd name="csX5" fmla="*/ 1012121 w 1836473"/>
              <a:gd name="csY5" fmla="*/ 1831733 h 1836473"/>
              <a:gd name="csX6" fmla="*/ 918257 w 1836473"/>
              <a:gd name="csY6" fmla="*/ 1836473 h 1836473"/>
              <a:gd name="csX7" fmla="*/ 918217 w 1836473"/>
              <a:gd name="csY7" fmla="*/ 1836473 h 1836473"/>
              <a:gd name="csX8" fmla="*/ 824353 w 1836473"/>
              <a:gd name="csY8" fmla="*/ 1831733 h 1836473"/>
              <a:gd name="csX9" fmla="*/ 0 w 1836473"/>
              <a:gd name="csY9" fmla="*/ 918237 h 1836473"/>
              <a:gd name="csX10" fmla="*/ 918237 w 1836473"/>
              <a:gd name="csY10" fmla="*/ 0 h 18364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836473" h="1836473">
                <a:moveTo>
                  <a:pt x="918237" y="0"/>
                </a:moveTo>
                <a:cubicBezTo>
                  <a:pt x="1393670" y="0"/>
                  <a:pt x="1784710" y="361327"/>
                  <a:pt x="1831733" y="824353"/>
                </a:cubicBezTo>
                <a:lnTo>
                  <a:pt x="1836473" y="918217"/>
                </a:lnTo>
                <a:lnTo>
                  <a:pt x="1836473" y="918257"/>
                </a:lnTo>
                <a:lnTo>
                  <a:pt x="1831733" y="1012121"/>
                </a:lnTo>
                <a:cubicBezTo>
                  <a:pt x="1787845" y="1444280"/>
                  <a:pt x="1444279" y="1787845"/>
                  <a:pt x="1012121" y="1831733"/>
                </a:cubicBezTo>
                <a:lnTo>
                  <a:pt x="918257" y="1836473"/>
                </a:lnTo>
                <a:lnTo>
                  <a:pt x="918217" y="1836473"/>
                </a:lnTo>
                <a:lnTo>
                  <a:pt x="824353" y="1831733"/>
                </a:lnTo>
                <a:cubicBezTo>
                  <a:pt x="361327" y="1784711"/>
                  <a:pt x="0" y="1393670"/>
                  <a:pt x="0" y="918237"/>
                </a:cubicBezTo>
                <a:cubicBezTo>
                  <a:pt x="0" y="411109"/>
                  <a:pt x="411109" y="0"/>
                  <a:pt x="918237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114AFE7-707E-2D27-8160-D2988F6488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5267" y="5304822"/>
            <a:ext cx="1407892" cy="1405878"/>
          </a:xfrm>
          <a:custGeom>
            <a:avLst/>
            <a:gdLst>
              <a:gd name="csX0" fmla="*/ 865344 w 1730687"/>
              <a:gd name="csY0" fmla="*/ 0 h 1730687"/>
              <a:gd name="csX1" fmla="*/ 1726220 w 1730687"/>
              <a:gd name="csY1" fmla="*/ 776868 h 1730687"/>
              <a:gd name="csX2" fmla="*/ 1730687 w 1730687"/>
              <a:gd name="csY2" fmla="*/ 865324 h 1730687"/>
              <a:gd name="csX3" fmla="*/ 1730687 w 1730687"/>
              <a:gd name="csY3" fmla="*/ 865364 h 1730687"/>
              <a:gd name="csX4" fmla="*/ 1726220 w 1730687"/>
              <a:gd name="csY4" fmla="*/ 953820 h 1730687"/>
              <a:gd name="csX5" fmla="*/ 953820 w 1730687"/>
              <a:gd name="csY5" fmla="*/ 1726220 h 1730687"/>
              <a:gd name="csX6" fmla="*/ 865364 w 1730687"/>
              <a:gd name="csY6" fmla="*/ 1730687 h 1730687"/>
              <a:gd name="csX7" fmla="*/ 865324 w 1730687"/>
              <a:gd name="csY7" fmla="*/ 1730687 h 1730687"/>
              <a:gd name="csX8" fmla="*/ 776868 w 1730687"/>
              <a:gd name="csY8" fmla="*/ 1726220 h 1730687"/>
              <a:gd name="csX9" fmla="*/ 0 w 1730687"/>
              <a:gd name="csY9" fmla="*/ 865344 h 1730687"/>
              <a:gd name="csX10" fmla="*/ 865344 w 1730687"/>
              <a:gd name="csY10" fmla="*/ 0 h 1730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730687" h="1730687">
                <a:moveTo>
                  <a:pt x="865344" y="0"/>
                </a:moveTo>
                <a:cubicBezTo>
                  <a:pt x="1313390" y="0"/>
                  <a:pt x="1681906" y="340513"/>
                  <a:pt x="1726220" y="776868"/>
                </a:cubicBezTo>
                <a:lnTo>
                  <a:pt x="1730687" y="865324"/>
                </a:lnTo>
                <a:lnTo>
                  <a:pt x="1730687" y="865364"/>
                </a:lnTo>
                <a:lnTo>
                  <a:pt x="1726220" y="953820"/>
                </a:lnTo>
                <a:cubicBezTo>
                  <a:pt x="1684861" y="1361085"/>
                  <a:pt x="1361085" y="1684861"/>
                  <a:pt x="953820" y="1726220"/>
                </a:cubicBezTo>
                <a:lnTo>
                  <a:pt x="865364" y="1730687"/>
                </a:lnTo>
                <a:lnTo>
                  <a:pt x="865324" y="1730687"/>
                </a:lnTo>
                <a:lnTo>
                  <a:pt x="776868" y="1726220"/>
                </a:lnTo>
                <a:cubicBezTo>
                  <a:pt x="340513" y="1681906"/>
                  <a:pt x="0" y="1313390"/>
                  <a:pt x="0" y="865344"/>
                </a:cubicBezTo>
                <a:cubicBezTo>
                  <a:pt x="0" y="387428"/>
                  <a:pt x="387428" y="0"/>
                  <a:pt x="865344" y="0"/>
                </a:cubicBezTo>
                <a:close/>
              </a:path>
            </a:pathLst>
          </a:cu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8FFB5F4B-F522-ED8E-7A97-5605BC037A2E}"/>
              </a:ext>
            </a:extLst>
          </p:cNvPr>
          <p:cNvSpPr/>
          <p:nvPr/>
        </p:nvSpPr>
        <p:spPr>
          <a:xfrm>
            <a:off x="6419127" y="4753281"/>
            <a:ext cx="1405878" cy="14058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599D28D-6FA9-6E68-B92C-6FD4FA3C6E4B}"/>
              </a:ext>
            </a:extLst>
          </p:cNvPr>
          <p:cNvSpPr/>
          <p:nvPr/>
        </p:nvSpPr>
        <p:spPr>
          <a:xfrm>
            <a:off x="8276409" y="5533277"/>
            <a:ext cx="948967" cy="94896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AA585B4-FB34-6878-19A9-3EF3E5D9234A}"/>
              </a:ext>
            </a:extLst>
          </p:cNvPr>
          <p:cNvSpPr/>
          <p:nvPr/>
        </p:nvSpPr>
        <p:spPr>
          <a:xfrm>
            <a:off x="9676781" y="4830339"/>
            <a:ext cx="584820" cy="5848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BD5A594-6BE3-06FD-B669-4CC7A076AACD}"/>
              </a:ext>
            </a:extLst>
          </p:cNvPr>
          <p:cNvSpPr/>
          <p:nvPr/>
        </p:nvSpPr>
        <p:spPr>
          <a:xfrm>
            <a:off x="10566801" y="5122749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4141F1F-EADE-27A7-8324-0B0A9F318560}"/>
              </a:ext>
            </a:extLst>
          </p:cNvPr>
          <p:cNvSpPr/>
          <p:nvPr/>
        </p:nvSpPr>
        <p:spPr>
          <a:xfrm>
            <a:off x="11151942" y="4589668"/>
            <a:ext cx="162771" cy="1627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F9BEE3-5D94-D1DD-3521-1375B083D387}"/>
              </a:ext>
            </a:extLst>
          </p:cNvPr>
          <p:cNvSpPr/>
          <p:nvPr/>
        </p:nvSpPr>
        <p:spPr>
          <a:xfrm>
            <a:off x="10420596" y="5715350"/>
            <a:ext cx="584820" cy="5848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9670F3-4359-4C3C-4AB0-65C691C70898}"/>
              </a:ext>
            </a:extLst>
          </p:cNvPr>
          <p:cNvSpPr/>
          <p:nvPr/>
        </p:nvSpPr>
        <p:spPr>
          <a:xfrm>
            <a:off x="9880386" y="6153965"/>
            <a:ext cx="584820" cy="58482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174C337-FEBC-D40A-F6F7-F71277F9B5E2}"/>
              </a:ext>
            </a:extLst>
          </p:cNvPr>
          <p:cNvSpPr/>
          <p:nvPr/>
        </p:nvSpPr>
        <p:spPr>
          <a:xfrm>
            <a:off x="9195884" y="6273210"/>
            <a:ext cx="418068" cy="41806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1DBCCCD-3C7D-9B2D-271C-925D0AFBF2BB}"/>
              </a:ext>
            </a:extLst>
          </p:cNvPr>
          <p:cNvSpPr/>
          <p:nvPr/>
        </p:nvSpPr>
        <p:spPr>
          <a:xfrm>
            <a:off x="11747286" y="6307025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13433C-44DB-C725-F1F5-296CD893EE8A}"/>
              </a:ext>
            </a:extLst>
          </p:cNvPr>
          <p:cNvSpPr/>
          <p:nvPr/>
        </p:nvSpPr>
        <p:spPr>
          <a:xfrm>
            <a:off x="9303360" y="5453154"/>
            <a:ext cx="292410" cy="2924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163062-A878-AC0F-0D02-58063735095F}"/>
              </a:ext>
            </a:extLst>
          </p:cNvPr>
          <p:cNvSpPr/>
          <p:nvPr/>
        </p:nvSpPr>
        <p:spPr>
          <a:xfrm>
            <a:off x="9509992" y="5861555"/>
            <a:ext cx="292410" cy="2924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E2EA31-51CD-2CA6-7251-D1898803EC33}"/>
              </a:ext>
            </a:extLst>
          </p:cNvPr>
          <p:cNvSpPr/>
          <p:nvPr/>
        </p:nvSpPr>
        <p:spPr>
          <a:xfrm>
            <a:off x="11428199" y="6418290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0470333-90BC-0432-15A0-68CE10ABF2BE}"/>
              </a:ext>
            </a:extLst>
          </p:cNvPr>
          <p:cNvSpPr/>
          <p:nvPr/>
        </p:nvSpPr>
        <p:spPr>
          <a:xfrm>
            <a:off x="11087122" y="6434924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4B316F1-4222-DFE7-378B-DBECCE305AFE}"/>
              </a:ext>
            </a:extLst>
          </p:cNvPr>
          <p:cNvSpPr/>
          <p:nvPr/>
        </p:nvSpPr>
        <p:spPr>
          <a:xfrm>
            <a:off x="10713006" y="6453230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0C7B44C-29A9-9E6B-05E2-4CA113722039}"/>
              </a:ext>
            </a:extLst>
          </p:cNvPr>
          <p:cNvSpPr/>
          <p:nvPr/>
        </p:nvSpPr>
        <p:spPr>
          <a:xfrm>
            <a:off x="10906961" y="6170826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7FD673-0BCA-D240-7BAE-30AD956BC42D}"/>
              </a:ext>
            </a:extLst>
          </p:cNvPr>
          <p:cNvSpPr/>
          <p:nvPr/>
        </p:nvSpPr>
        <p:spPr>
          <a:xfrm>
            <a:off x="11246666" y="6153965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37AD311-E417-9095-BAA1-D67818637A8A}"/>
              </a:ext>
            </a:extLst>
          </p:cNvPr>
          <p:cNvSpPr/>
          <p:nvPr/>
        </p:nvSpPr>
        <p:spPr>
          <a:xfrm>
            <a:off x="11565753" y="6025628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2422295-3983-612D-4882-9E867DB4E213}"/>
              </a:ext>
            </a:extLst>
          </p:cNvPr>
          <p:cNvSpPr/>
          <p:nvPr/>
        </p:nvSpPr>
        <p:spPr>
          <a:xfrm>
            <a:off x="11073784" y="5864260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4648DB-80A6-29E5-5897-9868F63EAB66}"/>
              </a:ext>
            </a:extLst>
          </p:cNvPr>
          <p:cNvSpPr/>
          <p:nvPr/>
        </p:nvSpPr>
        <p:spPr>
          <a:xfrm>
            <a:off x="11395698" y="5733218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37AC998-4C23-F21E-2CE7-35CC34BE5C9E}"/>
              </a:ext>
            </a:extLst>
          </p:cNvPr>
          <p:cNvSpPr/>
          <p:nvPr/>
        </p:nvSpPr>
        <p:spPr>
          <a:xfrm>
            <a:off x="11100461" y="5504473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E56141-A6C1-909E-FD25-56BDC6FA9C2B}"/>
              </a:ext>
            </a:extLst>
          </p:cNvPr>
          <p:cNvSpPr/>
          <p:nvPr/>
        </p:nvSpPr>
        <p:spPr>
          <a:xfrm>
            <a:off x="11447546" y="5401711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A2F5EFB-4CE3-3AE1-D14A-FF2DAC3BE21A}"/>
              </a:ext>
            </a:extLst>
          </p:cNvPr>
          <p:cNvSpPr/>
          <p:nvPr/>
        </p:nvSpPr>
        <p:spPr>
          <a:xfrm>
            <a:off x="11736164" y="5621872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A32F5E5-3F91-624C-3C50-2AD8E3645E93}"/>
              </a:ext>
            </a:extLst>
          </p:cNvPr>
          <p:cNvSpPr/>
          <p:nvPr/>
        </p:nvSpPr>
        <p:spPr>
          <a:xfrm>
            <a:off x="11766292" y="5264209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161E5B1-4322-4271-8BCB-7A72B923A54B}"/>
              </a:ext>
            </a:extLst>
          </p:cNvPr>
          <p:cNvSpPr/>
          <p:nvPr/>
        </p:nvSpPr>
        <p:spPr>
          <a:xfrm>
            <a:off x="12054910" y="5453154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ED7EC3C-CEAE-3B29-720A-40BEB8FF2874}"/>
              </a:ext>
            </a:extLst>
          </p:cNvPr>
          <p:cNvSpPr/>
          <p:nvPr/>
        </p:nvSpPr>
        <p:spPr>
          <a:xfrm>
            <a:off x="11919425" y="5930812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A0B7757-0689-123D-76E9-6C84EBD5E236}"/>
              </a:ext>
            </a:extLst>
          </p:cNvPr>
          <p:cNvSpPr/>
          <p:nvPr/>
        </p:nvSpPr>
        <p:spPr>
          <a:xfrm>
            <a:off x="12075024" y="6239752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D4655EB-705E-20C1-D1D0-E2725FFBA829}"/>
              </a:ext>
            </a:extLst>
          </p:cNvPr>
          <p:cNvSpPr/>
          <p:nvPr/>
        </p:nvSpPr>
        <p:spPr>
          <a:xfrm>
            <a:off x="11989299" y="6574616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C43B3E1-4E7F-05B5-19B8-AD94DEFA804D}"/>
              </a:ext>
            </a:extLst>
          </p:cNvPr>
          <p:cNvSpPr/>
          <p:nvPr/>
        </p:nvSpPr>
        <p:spPr>
          <a:xfrm>
            <a:off x="11663958" y="6664747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F8E3107-0BCC-4551-17EF-5CFCC362DE6F}"/>
              </a:ext>
            </a:extLst>
          </p:cNvPr>
          <p:cNvSpPr/>
          <p:nvPr/>
        </p:nvSpPr>
        <p:spPr>
          <a:xfrm>
            <a:off x="11338617" y="6745640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BF0A83-63C7-274F-6452-C20C2947ACA8}"/>
              </a:ext>
            </a:extLst>
          </p:cNvPr>
          <p:cNvSpPr/>
          <p:nvPr/>
        </p:nvSpPr>
        <p:spPr>
          <a:xfrm>
            <a:off x="10940917" y="6755646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CAA9487-2559-944C-25F6-AD3BC57D363A}"/>
              </a:ext>
            </a:extLst>
          </p:cNvPr>
          <p:cNvSpPr/>
          <p:nvPr/>
        </p:nvSpPr>
        <p:spPr>
          <a:xfrm>
            <a:off x="9739617" y="5492152"/>
            <a:ext cx="292410" cy="2924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3D4B7B-83E4-279D-FFA6-08034C531B6A}"/>
              </a:ext>
            </a:extLst>
          </p:cNvPr>
          <p:cNvSpPr/>
          <p:nvPr/>
        </p:nvSpPr>
        <p:spPr>
          <a:xfrm>
            <a:off x="10030314" y="5828974"/>
            <a:ext cx="292410" cy="2924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F5AC67D-799F-912A-F778-BE5552F90D02}"/>
              </a:ext>
            </a:extLst>
          </p:cNvPr>
          <p:cNvSpPr/>
          <p:nvPr/>
        </p:nvSpPr>
        <p:spPr>
          <a:xfrm>
            <a:off x="10179989" y="5368957"/>
            <a:ext cx="292410" cy="2924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3D4E42A-5E14-F971-365F-7D17ED9EB537}"/>
              </a:ext>
            </a:extLst>
          </p:cNvPr>
          <p:cNvSpPr/>
          <p:nvPr/>
        </p:nvSpPr>
        <p:spPr>
          <a:xfrm>
            <a:off x="10777448" y="5368957"/>
            <a:ext cx="292410" cy="2924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541CADE-DF90-FA12-CC1A-6A60E54C0397}"/>
              </a:ext>
            </a:extLst>
          </p:cNvPr>
          <p:cNvSpPr/>
          <p:nvPr/>
        </p:nvSpPr>
        <p:spPr>
          <a:xfrm>
            <a:off x="10872001" y="4987624"/>
            <a:ext cx="292410" cy="2924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9D6AA19-F5C0-1DF9-1FBB-D067657F6749}"/>
              </a:ext>
            </a:extLst>
          </p:cNvPr>
          <p:cNvSpPr/>
          <p:nvPr/>
        </p:nvSpPr>
        <p:spPr>
          <a:xfrm>
            <a:off x="11163780" y="5166165"/>
            <a:ext cx="292410" cy="2924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10FC480-44ED-48D7-A36C-372F2FB97C24}"/>
              </a:ext>
            </a:extLst>
          </p:cNvPr>
          <p:cNvSpPr/>
          <p:nvPr/>
        </p:nvSpPr>
        <p:spPr>
          <a:xfrm>
            <a:off x="11192412" y="4771987"/>
            <a:ext cx="292410" cy="2924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DC44D72-2E00-BFE6-2339-C89BF75283DB}"/>
              </a:ext>
            </a:extLst>
          </p:cNvPr>
          <p:cNvSpPr/>
          <p:nvPr/>
        </p:nvSpPr>
        <p:spPr>
          <a:xfrm>
            <a:off x="11560329" y="4897843"/>
            <a:ext cx="292410" cy="2924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ED0B9C4-17C7-5A0A-6347-E1373C7751AF}"/>
              </a:ext>
            </a:extLst>
          </p:cNvPr>
          <p:cNvSpPr/>
          <p:nvPr/>
        </p:nvSpPr>
        <p:spPr>
          <a:xfrm>
            <a:off x="11484822" y="4452373"/>
            <a:ext cx="292410" cy="2924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4BC5522-7C21-74BF-54E9-67E040C0C338}"/>
              </a:ext>
            </a:extLst>
          </p:cNvPr>
          <p:cNvSpPr/>
          <p:nvPr/>
        </p:nvSpPr>
        <p:spPr>
          <a:xfrm>
            <a:off x="11782614" y="4616446"/>
            <a:ext cx="292410" cy="2924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207CE9D-9389-9B11-179F-D6E12DCFA5A7}"/>
              </a:ext>
            </a:extLst>
          </p:cNvPr>
          <p:cNvSpPr/>
          <p:nvPr/>
        </p:nvSpPr>
        <p:spPr>
          <a:xfrm>
            <a:off x="11925952" y="4996541"/>
            <a:ext cx="162771" cy="1627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D626B3B-0641-D6B7-8F34-2233F9A9F633}"/>
              </a:ext>
            </a:extLst>
          </p:cNvPr>
          <p:cNvSpPr/>
          <p:nvPr/>
        </p:nvSpPr>
        <p:spPr>
          <a:xfrm>
            <a:off x="8798184" y="6511670"/>
            <a:ext cx="292410" cy="2924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D641E6D-3496-8B21-9BD4-8610A42F7A81}"/>
              </a:ext>
            </a:extLst>
          </p:cNvPr>
          <p:cNvSpPr/>
          <p:nvPr/>
        </p:nvSpPr>
        <p:spPr>
          <a:xfrm>
            <a:off x="9258713" y="4879409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9012680-345C-1845-239F-57255B6CDDE7}"/>
              </a:ext>
            </a:extLst>
          </p:cNvPr>
          <p:cNvSpPr/>
          <p:nvPr/>
        </p:nvSpPr>
        <p:spPr>
          <a:xfrm>
            <a:off x="8862795" y="4918192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698C275-FD2C-4B30-C57E-471DF9250EA5}"/>
              </a:ext>
            </a:extLst>
          </p:cNvPr>
          <p:cNvSpPr/>
          <p:nvPr/>
        </p:nvSpPr>
        <p:spPr>
          <a:xfrm>
            <a:off x="9041078" y="5259108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73A7424-9590-2A8D-3029-DB1C3E85A61F}"/>
              </a:ext>
            </a:extLst>
          </p:cNvPr>
          <p:cNvSpPr/>
          <p:nvPr/>
        </p:nvSpPr>
        <p:spPr>
          <a:xfrm>
            <a:off x="9449594" y="5198648"/>
            <a:ext cx="162771" cy="1627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42F1556-9727-DF72-8BC1-5BE545745018}"/>
              </a:ext>
            </a:extLst>
          </p:cNvPr>
          <p:cNvSpPr/>
          <p:nvPr/>
        </p:nvSpPr>
        <p:spPr>
          <a:xfrm>
            <a:off x="10566801" y="6322399"/>
            <a:ext cx="162771" cy="1627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450CC21-96F4-BFA7-842A-2E5D3D7C09A2}"/>
              </a:ext>
            </a:extLst>
          </p:cNvPr>
          <p:cNvSpPr/>
          <p:nvPr/>
        </p:nvSpPr>
        <p:spPr>
          <a:xfrm>
            <a:off x="10504827" y="6585853"/>
            <a:ext cx="162771" cy="1627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ED64837-D65F-8D42-EB18-6411FCC0D163}"/>
              </a:ext>
            </a:extLst>
          </p:cNvPr>
          <p:cNvSpPr/>
          <p:nvPr/>
        </p:nvSpPr>
        <p:spPr>
          <a:xfrm>
            <a:off x="9678623" y="6648181"/>
            <a:ext cx="162771" cy="1627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1D50A8B-4F70-4EFA-02DD-8470E3DFEF91}"/>
              </a:ext>
            </a:extLst>
          </p:cNvPr>
          <p:cNvSpPr/>
          <p:nvPr/>
        </p:nvSpPr>
        <p:spPr>
          <a:xfrm>
            <a:off x="9666044" y="6278778"/>
            <a:ext cx="162771" cy="1627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715F385-46F4-4B26-7871-02E1690799A5}"/>
              </a:ext>
            </a:extLst>
          </p:cNvPr>
          <p:cNvSpPr/>
          <p:nvPr/>
        </p:nvSpPr>
        <p:spPr>
          <a:xfrm>
            <a:off x="10326282" y="5074550"/>
            <a:ext cx="162771" cy="1627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F9EDC81-8775-6599-64C4-FEEAE7B230D0}"/>
              </a:ext>
            </a:extLst>
          </p:cNvPr>
          <p:cNvSpPr/>
          <p:nvPr/>
        </p:nvSpPr>
        <p:spPr>
          <a:xfrm>
            <a:off x="10667598" y="4867478"/>
            <a:ext cx="162771" cy="1627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515B837-FF97-6A00-96C5-4B3872856373}"/>
              </a:ext>
            </a:extLst>
          </p:cNvPr>
          <p:cNvSpPr/>
          <p:nvPr/>
        </p:nvSpPr>
        <p:spPr>
          <a:xfrm>
            <a:off x="10290094" y="4704131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FE48FFD-11BD-9B6F-DEAD-31EC288F429C}"/>
              </a:ext>
            </a:extLst>
          </p:cNvPr>
          <p:cNvSpPr/>
          <p:nvPr/>
        </p:nvSpPr>
        <p:spPr>
          <a:xfrm>
            <a:off x="10721018" y="4524848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E3CC4EB-3822-E436-870E-CBC36FC0784F}"/>
              </a:ext>
            </a:extLst>
          </p:cNvPr>
          <p:cNvSpPr/>
          <p:nvPr/>
        </p:nvSpPr>
        <p:spPr>
          <a:xfrm>
            <a:off x="10339116" y="4299551"/>
            <a:ext cx="292410" cy="2924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A7764CB-AE07-E7B1-CA1D-9B214DD1B970}"/>
              </a:ext>
            </a:extLst>
          </p:cNvPr>
          <p:cNvSpPr/>
          <p:nvPr/>
        </p:nvSpPr>
        <p:spPr>
          <a:xfrm>
            <a:off x="10961153" y="4246048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405CF45-AC65-C3E8-5229-D2E36FB69C3D}"/>
              </a:ext>
            </a:extLst>
          </p:cNvPr>
          <p:cNvSpPr/>
          <p:nvPr/>
        </p:nvSpPr>
        <p:spPr>
          <a:xfrm>
            <a:off x="11899590" y="4271588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B743841-A6F7-5E72-1E46-EBF61A4B18E3}"/>
              </a:ext>
            </a:extLst>
          </p:cNvPr>
          <p:cNvSpPr/>
          <p:nvPr/>
        </p:nvSpPr>
        <p:spPr>
          <a:xfrm>
            <a:off x="11545603" y="4093662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BBBDEC8-963B-16C0-6114-F9853B5C15A0}"/>
              </a:ext>
            </a:extLst>
          </p:cNvPr>
          <p:cNvSpPr/>
          <p:nvPr/>
        </p:nvSpPr>
        <p:spPr>
          <a:xfrm>
            <a:off x="11318197" y="4246684"/>
            <a:ext cx="162771" cy="1627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99D6E45-1AD1-6801-953B-608FEA498D43}"/>
              </a:ext>
            </a:extLst>
          </p:cNvPr>
          <p:cNvSpPr/>
          <p:nvPr/>
        </p:nvSpPr>
        <p:spPr>
          <a:xfrm>
            <a:off x="8714147" y="5287571"/>
            <a:ext cx="162771" cy="1627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32E60933-B7C1-91B6-91B8-C860717DDE5C}"/>
              </a:ext>
            </a:extLst>
          </p:cNvPr>
          <p:cNvSpPr/>
          <p:nvPr/>
        </p:nvSpPr>
        <p:spPr>
          <a:xfrm>
            <a:off x="9010950" y="4539158"/>
            <a:ext cx="292410" cy="2924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9485D2C-AB51-FB25-D60C-8C40ABA7C6F2}"/>
              </a:ext>
            </a:extLst>
          </p:cNvPr>
          <p:cNvSpPr/>
          <p:nvPr/>
        </p:nvSpPr>
        <p:spPr>
          <a:xfrm>
            <a:off x="9538267" y="4728800"/>
            <a:ext cx="162771" cy="1627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D99EE03-4957-33BD-730B-38E62487520C}"/>
              </a:ext>
            </a:extLst>
          </p:cNvPr>
          <p:cNvSpPr/>
          <p:nvPr/>
        </p:nvSpPr>
        <p:spPr>
          <a:xfrm>
            <a:off x="8154863" y="6441549"/>
            <a:ext cx="292410" cy="29241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048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671</Words>
  <Application>Microsoft Office PowerPoint</Application>
  <PresentationFormat>Widescreen</PresentationFormat>
  <Paragraphs>165</Paragraphs>
  <Slides>13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Ashiqur Rahman</dc:creator>
  <cp:lastModifiedBy>Md Ashiqur Rahman</cp:lastModifiedBy>
  <cp:revision>12</cp:revision>
  <dcterms:created xsi:type="dcterms:W3CDTF">2026-02-27T09:36:23Z</dcterms:created>
  <dcterms:modified xsi:type="dcterms:W3CDTF">2026-02-28T04:58:00Z</dcterms:modified>
</cp:coreProperties>
</file>